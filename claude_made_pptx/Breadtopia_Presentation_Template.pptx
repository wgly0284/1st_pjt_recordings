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00" cy="1371600"/>
          </a:xfrm>
          <a:prstGeom prst="roundRect">
            <a:avLst/>
          </a:prstGeom>
          <a:solidFill>
            <a:srgbClr val="FFD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8B5A2B"/>
                </a:solidFill>
              </a:defRPr>
            </a:pPr>
            <a:r>
              <a:t>🍞 Breadtopia (빵토피아)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빵지순례의 새로운 시작, 당신만의 빵 여행을 시작하세요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5720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A857"/>
                </a:solidFill>
              </a:defRPr>
            </a:pPr>
            <a:r>
              <a:t>🤖 AI 기반 3대 서비스 탑재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SSAFY 12기 최종 프로젝트 | 2025.12.24</a:t>
            </a:r>
          </a:p>
        </p:txBody>
      </p:sp>
      <p:sp>
        <p:nvSpPr>
          <p:cNvPr id="8" name="Oval 7"/>
          <p:cNvSpPr/>
          <p:nvPr/>
        </p:nvSpPr>
        <p:spPr>
          <a:xfrm>
            <a:off x="182880" y="182880"/>
            <a:ext cx="137160" cy="137160"/>
          </a:xfrm>
          <a:prstGeom prst="ellipse">
            <a:avLst/>
          </a:prstGeom>
          <a:solidFill>
            <a:srgbClr val="F5B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274320"/>
            <a:ext cx="91440" cy="91440"/>
          </a:xfrm>
          <a:prstGeom prst="ellipse">
            <a:avLst/>
          </a:prstGeom>
          <a:solidFill>
            <a:srgbClr val="FFD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0" y="228600"/>
            <a:ext cx="109728" cy="109728"/>
          </a:xfrm>
          <a:prstGeom prst="ellipse">
            <a:avLst/>
          </a:prstGeom>
          <a:solidFill>
            <a:srgbClr val="F5B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0" y="6217920"/>
            <a:ext cx="9144000" cy="640080"/>
          </a:xfrm>
          <a:prstGeom prst="round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D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B5A2B"/>
                </a:solidFill>
              </a:defRPr>
            </a:pPr>
            <a:r>
              <a:t>📌 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1. 서비스 소개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2. 개발 배경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3. 기술 스택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4. 시스템 아키텍처 &amp; ERD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5. 핵심 기능 소개 (AI 3대 기능)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6. 필수 요구사항 충족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7. AI 기능 및 추천 알고리즘 상세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8. 게이미피케이션 시스템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9. 주요 코드 설명</a:t>
            </a:r>
          </a:p>
          <a:p>
            <a:pPr>
              <a:spcBef>
                <a:spcPts val="1200"/>
              </a:spcBef>
              <a:defRPr sz="2000">
                <a:solidFill>
                  <a:srgbClr val="333333"/>
                </a:solidFill>
              </a:defRPr>
            </a:pPr>
            <a:r>
              <a:t>10. 프로젝트 회고</a:t>
            </a:r>
          </a:p>
        </p:txBody>
      </p:sp>
      <p:sp>
        <p:nvSpPr>
          <p:cNvPr id="6" name="Oval 5"/>
          <p:cNvSpPr/>
          <p:nvPr/>
        </p:nvSpPr>
        <p:spPr>
          <a:xfrm>
            <a:off x="182880" y="182880"/>
            <a:ext cx="137160" cy="137160"/>
          </a:xfrm>
          <a:prstGeom prst="ellipse">
            <a:avLst/>
          </a:prstGeom>
          <a:solidFill>
            <a:srgbClr val="F5B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274320"/>
            <a:ext cx="91440" cy="91440"/>
          </a:xfrm>
          <a:prstGeom prst="ellipse">
            <a:avLst/>
          </a:prstGeom>
          <a:solidFill>
            <a:srgbClr val="FFD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0" y="228600"/>
            <a:ext cx="109728" cy="109728"/>
          </a:xfrm>
          <a:prstGeom prst="ellipse">
            <a:avLst/>
          </a:prstGeom>
          <a:solidFill>
            <a:srgbClr val="F5B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0" y="6217920"/>
            <a:ext cx="9144000" cy="640080"/>
          </a:xfrm>
          <a:prstGeom prst="round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0" y="1828800"/>
            <a:ext cx="3657600" cy="3657600"/>
          </a:xfrm>
          <a:prstGeom prst="ellipse">
            <a:avLst/>
          </a:prstGeom>
          <a:solidFill>
            <a:srgbClr val="FFD89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1. 서비스 소개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B5A2B"/>
                </a:solidFill>
              </a:defRPr>
            </a:pPr>
            <a:r>
              <a:t>[제목을 입력하세요]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[여기에 내용을 입력하세요]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항목 1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항목 2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• 항목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097280"/>
            <a:ext cx="3931920" cy="5303520"/>
          </a:xfrm>
          <a:prstGeom prst="round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371600"/>
            <a:ext cx="3474720" cy="4754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[이미지 또는 </a:t>
            </a:r>
          </a:p>
          <a:p>
            <a:pPr algn="ctr">
              <a:defRPr sz="1600">
                <a:solidFill>
                  <a:srgbClr val="666666"/>
                </a:solidFill>
              </a:defRPr>
            </a:pPr>
            <a:r>
              <a:t>추가 설명 영역]</a:t>
            </a:r>
          </a:p>
          <a:p>
            <a:pPr algn="ctr">
              <a:defRPr sz="1600">
                <a:solidFill>
                  <a:srgbClr val="666666"/>
                </a:solidFill>
              </a:defRPr>
            </a:pPr>
          </a:p>
          <a:p>
            <a:pPr algn="ctr">
              <a:defRPr sz="1600">
                <a:solidFill>
                  <a:srgbClr val="666666"/>
                </a:solidFill>
              </a:defRPr>
            </a:pPr>
            <a:r>
              <a:t>💡 핵심 포인트를</a:t>
            </a:r>
          </a:p>
          <a:p>
            <a:pPr algn="ctr">
              <a:defRPr sz="1600">
                <a:solidFill>
                  <a:srgbClr val="666666"/>
                </a:solidFill>
              </a:defRPr>
            </a:pPr>
            <a:r>
              <a:t>이곳에 작성하세요</a:t>
            </a:r>
          </a:p>
        </p:txBody>
      </p:sp>
      <p:sp>
        <p:nvSpPr>
          <p:cNvPr id="8" name="Oval 7"/>
          <p:cNvSpPr/>
          <p:nvPr/>
        </p:nvSpPr>
        <p:spPr>
          <a:xfrm>
            <a:off x="182880" y="182880"/>
            <a:ext cx="137160" cy="137160"/>
          </a:xfrm>
          <a:prstGeom prst="ellipse">
            <a:avLst/>
          </a:prstGeom>
          <a:solidFill>
            <a:srgbClr val="F5B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274320"/>
            <a:ext cx="91440" cy="91440"/>
          </a:xfrm>
          <a:prstGeom prst="ellipse">
            <a:avLst/>
          </a:prstGeom>
          <a:solidFill>
            <a:srgbClr val="FFD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0" y="228600"/>
            <a:ext cx="109728" cy="109728"/>
          </a:xfrm>
          <a:prstGeom prst="ellipse">
            <a:avLst/>
          </a:prstGeom>
          <a:solidFill>
            <a:srgbClr val="F5B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0" y="6217920"/>
            <a:ext cx="9144000" cy="640080"/>
          </a:xfrm>
          <a:prstGeom prst="round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B5A2B"/>
                </a:solidFill>
              </a:defRPr>
            </a:pPr>
            <a:r>
              <a:t>🤖 AI 기반 3대 핵심 기능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4114800"/>
          </a:xfrm>
          <a:prstGeom prst="roundRect">
            <a:avLst/>
          </a:prstGeom>
          <a:solidFill>
            <a:srgbClr val="FFF8EE"/>
          </a:solidFill>
          <a:ln w="25400">
            <a:solidFill>
              <a:srgbClr val="FFD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8B5A2B"/>
                </a:solidFill>
              </a:defRPr>
            </a:pPr>
            <a:r>
              <a:t>1. 오늘의 빵집 추천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취향 키워드 기반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하루 1개 빵집 추천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371600"/>
            <a:ext cx="2560320" cy="4114800"/>
          </a:xfrm>
          <a:prstGeom prst="roundRect">
            <a:avLst/>
          </a:prstGeom>
          <a:solidFill>
            <a:srgbClr val="FFF8EE"/>
          </a:solidFill>
          <a:ln w="25400">
            <a:solidFill>
              <a:srgbClr val="FFD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8288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7432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8B5A2B"/>
                </a:solidFill>
              </a:defRPr>
            </a:pPr>
            <a:r>
              <a:t>2. 웰시코기 챗봇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4747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우측 하단 플로팅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실시간 문의 응대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371600"/>
            <a:ext cx="2560320" cy="4114800"/>
          </a:xfrm>
          <a:prstGeom prst="roundRect">
            <a:avLst/>
          </a:prstGeom>
          <a:solidFill>
            <a:srgbClr val="FFF8EE"/>
          </a:solidFill>
          <a:ln w="25400">
            <a:solidFill>
              <a:srgbClr val="FFD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7432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8B5A2B"/>
                </a:solidFill>
              </a:defRPr>
            </a:pPr>
            <a:r>
              <a:t>3. 리뷰 요약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4747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AI가 수십 개 리뷰를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3-5줄로 요약</a:t>
            </a:r>
          </a:p>
        </p:txBody>
      </p:sp>
      <p:sp>
        <p:nvSpPr>
          <p:cNvPr id="16" name="Oval 15"/>
          <p:cNvSpPr/>
          <p:nvPr/>
        </p:nvSpPr>
        <p:spPr>
          <a:xfrm>
            <a:off x="182880" y="182880"/>
            <a:ext cx="137160" cy="137160"/>
          </a:xfrm>
          <a:prstGeom prst="ellipse">
            <a:avLst/>
          </a:prstGeom>
          <a:solidFill>
            <a:srgbClr val="F5B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" y="274320"/>
            <a:ext cx="91440" cy="91440"/>
          </a:xfrm>
          <a:prstGeom prst="ellipse">
            <a:avLst/>
          </a:prstGeom>
          <a:solidFill>
            <a:srgbClr val="FFD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0" y="228600"/>
            <a:ext cx="109728" cy="109728"/>
          </a:xfrm>
          <a:prstGeom prst="ellipse">
            <a:avLst/>
          </a:prstGeom>
          <a:solidFill>
            <a:srgbClr val="F5B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0" y="6217920"/>
            <a:ext cx="9144000" cy="640080"/>
          </a:xfrm>
          <a:prstGeom prst="round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5A2B"/>
                </a:solidFill>
              </a:defRPr>
            </a:pPr>
            <a:r>
              <a:t>[코드 제목]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BB2BF"/>
                </a:solidFill>
                <a:latin typeface="Consolas"/>
              </a:defRPr>
            </a:pPr>
            <a:r>
              <a:t>[여기에 코드를 입력하세요]</a:t>
            </a:r>
          </a:p>
          <a:p>
            <a:pPr>
              <a:defRPr sz="1400">
                <a:solidFill>
                  <a:srgbClr val="ABB2BF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ABB2BF"/>
                </a:solidFill>
                <a:latin typeface="Consolas"/>
              </a:defRPr>
            </a:pPr>
            <a:r>
              <a:t>function example() {</a:t>
            </a:r>
          </a:p>
          <a:p>
            <a:pPr>
              <a:defRPr sz="1400">
                <a:solidFill>
                  <a:srgbClr val="ABB2BF"/>
                </a:solidFill>
                <a:latin typeface="Consolas"/>
              </a:defRPr>
            </a:pPr>
            <a:r>
              <a:t>  // 코드 예시</a:t>
            </a:r>
          </a:p>
          <a:p>
            <a:pPr>
              <a:defRPr sz="1400">
                <a:solidFill>
                  <a:srgbClr val="ABB2BF"/>
                </a:solidFill>
                <a:latin typeface="Consolas"/>
              </a:defRPr>
            </a:pPr>
            <a:r>
              <a:t>  return true;</a:t>
            </a:r>
          </a:p>
          <a:p>
            <a:pPr>
              <a:defRPr sz="1400">
                <a:solidFill>
                  <a:srgbClr val="ABB2B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💡 [코드 설명을 여기에 작성하세요]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B5A2B"/>
                </a:solidFill>
              </a:defRPr>
            </a:pPr>
            <a:r>
              <a:t>🗄️ 데이터베이스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7315200" cy="4846320"/>
          </a:xfrm>
          <a:prstGeom prst="roundRect">
            <a:avLst/>
          </a:prstGeom>
          <a:solidFill>
            <a:srgbClr val="FFF8EE"/>
          </a:solidFill>
          <a:ln w="12700">
            <a:solidFill>
              <a:srgbClr val="FFD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[여기에 ERD 또는 아키텍처 다이어그램을 삽입하세요]</a:t>
            </a:r>
          </a:p>
          <a:p>
            <a:pPr algn="ctr">
              <a:defRPr sz="1600">
                <a:solidFill>
                  <a:srgbClr val="666666"/>
                </a:solidFill>
              </a:defRPr>
            </a:pPr>
          </a:p>
          <a:p>
            <a:pPr algn="ctr">
              <a:defRPr sz="1600">
                <a:solidFill>
                  <a:srgbClr val="666666"/>
                </a:solidFill>
              </a:defRPr>
            </a:pPr>
            <a:r>
              <a:t>💡 이미지 삽입 방법:</a:t>
            </a:r>
          </a:p>
          <a:p>
            <a:pPr algn="ctr">
              <a:defRPr sz="1600">
                <a:solidFill>
                  <a:srgbClr val="666666"/>
                </a:solidFill>
              </a:defRPr>
            </a:pPr>
            <a:r>
              <a:t>1. 슬라이드 편집 모드에서</a:t>
            </a:r>
          </a:p>
          <a:p>
            <a:pPr algn="ctr">
              <a:defRPr sz="1600">
                <a:solidFill>
                  <a:srgbClr val="666666"/>
                </a:solidFill>
              </a:defRPr>
            </a:pPr>
            <a:r>
              <a:t>2. '삽입' → '이미지' 클릭</a:t>
            </a:r>
          </a:p>
          <a:p>
            <a:pPr algn="ctr">
              <a:defRPr sz="1600">
                <a:solidFill>
                  <a:srgbClr val="666666"/>
                </a:solidFill>
              </a:defRPr>
            </a:pPr>
            <a:r>
              <a:t>3. ERD 이미지 선택</a:t>
            </a:r>
          </a:p>
        </p:txBody>
      </p:sp>
      <p:sp>
        <p:nvSpPr>
          <p:cNvPr id="6" name="Oval 5"/>
          <p:cNvSpPr/>
          <p:nvPr/>
        </p:nvSpPr>
        <p:spPr>
          <a:xfrm>
            <a:off x="182880" y="182880"/>
            <a:ext cx="137160" cy="137160"/>
          </a:xfrm>
          <a:prstGeom prst="ellipse">
            <a:avLst/>
          </a:prstGeom>
          <a:solidFill>
            <a:srgbClr val="F5B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274320"/>
            <a:ext cx="91440" cy="91440"/>
          </a:xfrm>
          <a:prstGeom prst="ellipse">
            <a:avLst/>
          </a:prstGeom>
          <a:solidFill>
            <a:srgbClr val="FFD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0" y="228600"/>
            <a:ext cx="109728" cy="109728"/>
          </a:xfrm>
          <a:prstGeom prst="ellipse">
            <a:avLst/>
          </a:prstGeom>
          <a:solidFill>
            <a:srgbClr val="F5B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0" y="6217920"/>
            <a:ext cx="9144000" cy="640080"/>
          </a:xfrm>
          <a:prstGeom prst="round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D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0" y="1371600"/>
            <a:ext cx="4572000" cy="4572000"/>
          </a:xfrm>
          <a:prstGeom prst="ellipse">
            <a:avLst/>
          </a:prstGeom>
          <a:solidFill>
            <a:srgbClr val="FFA857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발표를 들어주셔서</a:t>
            </a:r>
          </a:p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감사합니다! 🍞✨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Breadtopia (빵토피아)</a:t>
            </a:r>
          </a:p>
          <a:p>
            <a:pPr algn="ctr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SSAFY 12기 최종 프로젝트</a:t>
            </a:r>
          </a:p>
          <a:p>
            <a:pPr algn="ctr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</a:p>
          <a:p>
            <a:pPr algn="ctr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🤖 AI 기반 빵집 추천 플랫폼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